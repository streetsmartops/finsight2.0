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2A384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2A384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2A384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2A384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2A384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928"/>
            <a:ext cx="822960" cy="822960"/>
          </a:xfrm>
          <a:prstGeom prst="ellipse">
            <a:avLst/>
          </a:prstGeom>
          <a:solidFill>
            <a:srgbClr val="1A2331"/>
          </a:solidFill>
          <a:ln w="19050">
            <a:solidFill>
              <a:srgbClr val="35E0A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6809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56692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44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673352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CLOUD INTELLIGENCE LAYER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decision layer that lets a CXO ask the cloud estate a question in plain English — and get a grounded, cited answer.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" y="2880360"/>
            <a:ext cx="2523744" cy="841248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7238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Capacity-Mngt-App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8872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&amp; cost forecasting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364992" y="2880360"/>
            <a:ext cx="2523744" cy="841248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0723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95344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Cost-Mngt-App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895344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anomaly detection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071616" y="2880360"/>
            <a:ext cx="2523744" cy="841248"/>
          </a:xfrm>
          <a:prstGeom prst="roundRect">
            <a:avLst>
              <a:gd name="adj" fmla="val 869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0723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01968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cockpit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601968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executive Q&amp;A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658368" y="433425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· UC Berkeley Executive Education — AI &amp; GenAI: Business Strategies and Applications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58368" y="45720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Sachin Narayanan · Director, Cloud Operations &amp; AI-Augmented Engineering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answers are locked behind dashboards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Enterprise CX SaaS estate — 167 AWS single- and multi-tenant deployments, ~$5M annual spend — the answers leadership needs are scattered across Datadog, Cost Explorer, and a dozen tabs. When a PE investor asks “are we about to run out of capacity, and why did the bill jump?”, the answer takes an engineer hours to assemble.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FinSight collapses that to one question box. It unifies predictive capacity forecasting and real-time cost attribution behind a retrieval-augmented interface, so a non-technical executive gets a decisive, cited answer in seconds.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0" y="1481328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1645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CONTEXT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72084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ST/MT deployments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0" y="25968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$5M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720840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cloud spend governed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72084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lines: Engage · Analyze · Assist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0" y="38039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720840" y="38039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cross-geo cloud org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CX SaaS · cloud operations · the gap between telemetry and an executive-ready answer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FinSight generates business value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664208"/>
            <a:ext cx="457200" cy="457200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1769364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Improvement, not net-new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58368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overlay on existing observability (Datadog, Cost Explorer) — not a rip-and-replace. It turns telemetry already paid for into decisions, so adoption cost is low and value is immediate.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64408" y="1481328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65576" y="1664208"/>
            <a:ext cx="457200" cy="457200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732" y="1769364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65576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465576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Second-mover on the technique, first-mover internally. The moat isn't the models — it's the grounding contract over our own estate. Faster capacity + cost decisions during PE diligence directly protect valuation.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71616" y="1481328"/>
            <a:ext cx="2624328" cy="2743200"/>
          </a:xfrm>
          <a:prstGeom prst="roundRect">
            <a:avLst>
              <a:gd name="adj" fmla="val 2787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72784" y="1664208"/>
            <a:ext cx="457200" cy="457200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1769364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72784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Financially viable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272784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~1 eng-quarter to build, marginal LLM inference cost. Return: avoided over-provisioning, faster anomaly catch, and analyst hours saved. Payback measured in a single prevented capacity incident.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components — Investment: build + inference · Return: avoided over-provisioning + faster anomaly catch + analyst time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METRICS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measure, and what we do about it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5544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 (MAPE)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743200" y="15544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Capacity-Mngt-App must be trusted to act on. Tracks predicted vs. actual utilization/spend.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5806440" y="15544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10% → retrain / add features. &lt; 5% → safe to automate capacity alerts.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457200" y="232257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23957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precision / recall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743200" y="23957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erode trust; misses cost money. Measured against confirmed incidents.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5806440" y="23957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drop → raise z-threshold. Recall drop → lower it / shorten window.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457200" y="316382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32369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grounding rate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743200" y="323697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cited number must trace to an engine fact. The anti-hallucination guarantee.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5806440" y="32369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100% → block release. Any fabricated citation is a hard failure.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457200" y="400507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407822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Time-to-answer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743200" y="40782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value prop: hours of analyst work → seconds.</a:t>
            </a:r>
            <a:endParaRPr lang="en-US" sz="930" dirty="0"/>
          </a:p>
        </p:txBody>
      </p:sp>
      <p:sp>
        <p:nvSpPr>
          <p:cNvPr id="22" name="Text 19"/>
          <p:cNvSpPr/>
          <p:nvPr/>
        </p:nvSpPr>
        <p:spPr>
          <a:xfrm>
            <a:off x="5806440" y="40782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Rising → cache facts / tune retrieval. The exec-facing SLA.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640080" y="13350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743200" y="13350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MAPS TO THE NEED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806440" y="13350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ON THRESHOLD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chosen for actionability — each carries an explicit response when it crosses a floor or ceiling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techniques, one decision layer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2624328" cy="2880360"/>
          </a:xfrm>
          <a:prstGeom prst="roundRect">
            <a:avLst>
              <a:gd name="adj" fmla="val 2787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Capacity-Mngt-App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0704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SUPERVISED · TIME-SERIES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" y="2249424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on engineered temporal features (trend, day-of-week, weekly Fourier).</a:t>
            </a:r>
            <a:endParaRPr lang="en-US" sz="9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Readily-available algorithm (scikit-learn) — no custom model needed.</a:t>
            </a:r>
            <a:endParaRPr lang="en-US" sz="9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per-stream on 180d history; objective: minimize forecast error + honest prediction interval.</a:t>
            </a:r>
            <a:endParaRPr lang="en-US" sz="920" dirty="0"/>
          </a:p>
        </p:txBody>
      </p:sp>
      <p:sp>
        <p:nvSpPr>
          <p:cNvPr id="12" name="Shape 8"/>
          <p:cNvSpPr/>
          <p:nvPr/>
        </p:nvSpPr>
        <p:spPr>
          <a:xfrm>
            <a:off x="3264408" y="1481328"/>
            <a:ext cx="2624328" cy="2880360"/>
          </a:xfrm>
          <a:prstGeom prst="roundRect">
            <a:avLst>
              <a:gd name="adj" fmla="val 2787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66420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791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Cost-Mngt-App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867912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UNSUPERVISED · STATISTICS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465576" y="2249424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z-score on rolling median + MAD baseline; resists spike-poisoning.</a:t>
            </a:r>
            <a:endParaRPr lang="en-US" sz="9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 required at cold start — pure statistical detector.</a:t>
            </a:r>
            <a:endParaRPr lang="en-US" sz="9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deterministic attribution: decomposes any spend delta by product/region/service.</a:t>
            </a:r>
            <a:endParaRPr lang="en-US" sz="920" dirty="0"/>
          </a:p>
        </p:txBody>
      </p:sp>
      <p:sp>
        <p:nvSpPr>
          <p:cNvPr id="17" name="Shape 12"/>
          <p:cNvSpPr/>
          <p:nvPr/>
        </p:nvSpPr>
        <p:spPr>
          <a:xfrm>
            <a:off x="6071616" y="1481328"/>
            <a:ext cx="2624328" cy="2880360"/>
          </a:xfrm>
          <a:prstGeom prst="roundRect">
            <a:avLst>
              <a:gd name="adj" fmla="val 2787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66420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cockpit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6751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+ LLM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6272784" y="2249424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retrieval over engine-derived fact cards → grounded composition with Claude.</a:t>
            </a:r>
            <a:endParaRPr lang="en-US" sz="9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Adopts an available LLM; the IP is the grounding contract, not the model.</a:t>
            </a:r>
            <a:endParaRPr lang="en-US" sz="9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2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— the engines own the numbers, the LLM only phrases them.</a:t>
            </a:r>
            <a:endParaRPr lang="en-US" sz="920" dirty="0"/>
          </a:p>
        </p:txBody>
      </p:sp>
      <p:sp>
        <p:nvSpPr>
          <p:cNvPr id="22" name="Text 16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 2–5 mapping — supervised regression · unsupervised anomaly detection · retrieval-augmented generation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we already own — and how it connects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1444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 — ALREADY IN OUR SYSTEMS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0195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&amp; Usage Report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87552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 by account / service / region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457200" y="2432304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786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telemetry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87552" y="2743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 / EC2 metrics via Datadog + Prometheus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5526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&amp; runbooks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87552" y="34198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B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PagerDuty + internal docs for root-cause context</a:t>
            </a:r>
            <a:endParaRPr lang="en-US" sz="780" dirty="0"/>
          </a:p>
        </p:txBody>
      </p:sp>
      <p:sp>
        <p:nvSpPr>
          <p:cNvPr id="20" name="Shape 14"/>
          <p:cNvSpPr/>
          <p:nvPr/>
        </p:nvSpPr>
        <p:spPr>
          <a:xfrm>
            <a:off x="4937760" y="1444752"/>
            <a:ext cx="3749040" cy="3035808"/>
          </a:xfrm>
          <a:prstGeom prst="roundRect">
            <a:avLst>
              <a:gd name="adj" fmla="val 2410"/>
            </a:avLst>
          </a:prstGeom>
          <a:solidFill>
            <a:srgbClr val="1A233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138928" y="1609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 &amp; INTEGRATION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5138928" y="1938528"/>
            <a:ext cx="3346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it. All three sources are first-party — no vendor data acquisition, no new licensing.</a:t>
            </a:r>
            <a:endParaRPr lang="en-US" sz="1000" dirty="0"/>
          </a:p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lives. CUR in S3; metrics in Datadog/Prometheus; incidents in PagerDuty + Git.</a:t>
            </a:r>
            <a:endParaRPr lang="en-US" sz="1000" dirty="0"/>
          </a:p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the systems. A daily ETL keys every record on (date, product, region, service) — the same join the engines and fact cards use.</a:t>
            </a:r>
            <a:endParaRPr lang="en-US" sz="1000" dirty="0"/>
          </a:p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data-hungry? Moderately. 180 days of daily data is enough for the seasonal forecast; the RAG layer needs only the derived facts, not raw rows.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uses deterministic synthetic data (seed=42) modeling this exact schema — no production data leaves the estate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 &amp; AI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organizational and ethical factors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1444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4069080" cy="1152144"/>
          </a:xfrm>
          <a:prstGeom prst="roundRect">
            <a:avLst>
              <a:gd name="adj" fmla="val 6349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8653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required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215798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must trust an AI-phrased answer. Engineers must trust it won't hallucinate numbers into a board deck.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457200" y="3054096"/>
            <a:ext cx="4069080" cy="1152144"/>
          </a:xfrm>
          <a:prstGeom prst="roundRect">
            <a:avLst>
              <a:gd name="adj" fmla="val 6349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163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earn it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45643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grounding contract visibly — every answer shows its [FACT-xxx] citations and evidence. Trust is demonstrated, not asserted.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4617720" y="1444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 &amp; ETHICS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17720" y="1755648"/>
            <a:ext cx="4069080" cy="1152144"/>
          </a:xfrm>
          <a:prstGeom prst="roundRect">
            <a:avLst>
              <a:gd name="adj" fmla="val 6349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18653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interaction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00600" y="215798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Internal: CXO / PE / SRE leads query it directly. The cockpit keeps the human in the decision loop — it informs, it doesn't auto-act on spend.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617720" y="3054096"/>
            <a:ext cx="4069080" cy="1152144"/>
          </a:xfrm>
          <a:prstGeom prst="roundRect">
            <a:avLst>
              <a:gd name="adj" fmla="val 6349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0600" y="3163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guardrails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00600" y="345643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attribution must not become individual blame. Forecasts carry uncertainty bands so no one over-trusts a point estimate. Off-domain questions are declined, not bluffed.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 7–8 — the human stays in the loop; the system informs decisions, it does not take spend actions autonomously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experiment to prove it works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4114800" cy="2971800"/>
          </a:xfrm>
          <a:prstGeom prst="roundRect">
            <a:avLst>
              <a:gd name="adj" fmla="val 2462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EXPERIMENTAL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9751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22128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A/B on decision tasks. Control = current dashboards; Treatment = FinSight cockpit.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2798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3035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cloud-ops leads &amp; EMs, randomized to the two arms across a 6-week window.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" y="3621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3858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prompts: “Is any stream at capacity risk?” · “Explain last week's spend delta.”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1481328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1A233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56048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MEASURE &amp; COMPARE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56048" y="2029968"/>
            <a:ext cx="146304" cy="146304"/>
          </a:xfrm>
          <a:prstGeom prst="ellipse">
            <a:avLst/>
          </a:prstGeom>
          <a:solidFill>
            <a:srgbClr val="35E0A1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93792" y="19568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Time-to-answer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93792" y="21854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vs. control, per task. Primary endpoint.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956048" y="2633472"/>
            <a:ext cx="146304" cy="146304"/>
          </a:xfrm>
          <a:prstGeom prst="ellipse">
            <a:avLst/>
          </a:prstGeom>
          <a:solidFill>
            <a:srgbClr val="35E0A1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93792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correctness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193792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against ground-truth from the engines.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4956048" y="3236976"/>
            <a:ext cx="146304" cy="146304"/>
          </a:xfrm>
          <a:prstGeom prst="ellipse">
            <a:avLst/>
          </a:prstGeom>
          <a:solidFill>
            <a:srgbClr val="35E0A1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93792" y="31638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confidence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193792" y="3392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Self-rated 1–5; does grounding raise trust?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4956048" y="3840480"/>
            <a:ext cx="146304" cy="146304"/>
          </a:xfrm>
          <a:prstGeom prst="ellipse">
            <a:avLst/>
          </a:prstGeom>
          <a:solidFill>
            <a:srgbClr val="35E0A1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93792" y="37673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rate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193792" y="3995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cited numbers that trace to a real fact (target 100%).</a:t>
            </a:r>
            <a:endParaRPr lang="en-US" sz="870" dirty="0"/>
          </a:p>
        </p:txBody>
      </p:sp>
      <p:sp>
        <p:nvSpPr>
          <p:cNvPr id="29" name="Text 26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endpoint: time-to-answer (Treatment vs Control) · guardrail endpoint: grounding rate must hold at 100%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92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A2331"/>
          </a:solidFill>
          <a:ln w="12700">
            <a:solidFill>
              <a:srgbClr val="35E0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166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206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OF WORK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tested, and running — not a concept</a:t>
            </a:r>
            <a:endParaRPr lang="en-US" sz="2500" dirty="0"/>
          </a:p>
        </p:txBody>
      </p:sp>
      <p:pic>
        <p:nvPicPr>
          <p:cNvPr id="7" name="Image 1" descr="../docs/deck_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463040"/>
            <a:ext cx="534924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24281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FinSight cockpit — grounded answer with inline [FACT] citations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5989320" y="1481328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6459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1536192"/>
            <a:ext cx="841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370064" y="1536192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 — engines + grounding contract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5989320" y="219456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35915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2240" y="2249424"/>
            <a:ext cx="841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2.7%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370064" y="2249424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Capacity-Mngt-App forecast MAPE on capacity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5989320" y="290779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072384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2962656"/>
            <a:ext cx="841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5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370064" y="2962656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cost anomalies recovered by Cost-Mngt-App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5989320" y="3621024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21821"/>
          </a:solidFill>
          <a:ln w="9525">
            <a:solidFill>
              <a:srgbClr val="2A38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785616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92240" y="3675888"/>
            <a:ext cx="841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7370064" y="3675888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AA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grounding rate — zero fabricated citations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5989320" y="4370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60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repo: working engines · FastAPI cockpit · reproducible notebook · test suite</a:t>
            </a:r>
            <a:endParaRPr lang="en-US" sz="760" dirty="0"/>
          </a:p>
        </p:txBody>
      </p:sp>
      <p:sp>
        <p:nvSpPr>
          <p:cNvPr id="26" name="Text 18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A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Slide 8 — deployment evidence · the system is demoable live and defensible in technical interviews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— Executive Cloud Intelligence Layer</dc:title>
  <dc:subject>PptxGenJS Presentation</dc:subject>
  <dc:creator>Sachin Narayanan</dc:creator>
  <cp:lastModifiedBy>Sachin Narayanan</cp:lastModifiedBy>
  <cp:revision>1</cp:revision>
  <dcterms:created xsi:type="dcterms:W3CDTF">2026-06-19T20:54:31Z</dcterms:created>
  <dcterms:modified xsi:type="dcterms:W3CDTF">2026-06-19T20:54:31Z</dcterms:modified>
</cp:coreProperties>
</file>